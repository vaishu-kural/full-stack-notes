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3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6</a:t>
            </a:r>
            <a:endParaRPr lang="en-US" dirty="0"/>
          </a:p>
          <a:p>
            <a:pPr lvl="6"/>
            <a:r>
              <a:rPr lang="en-US" dirty="0"/>
              <a:t>7</a:t>
            </a:r>
            <a:endParaRPr lang="en-US" dirty="0"/>
          </a:p>
          <a:p>
            <a:pPr lvl="7"/>
            <a:r>
              <a:rPr lang="en-US" dirty="0"/>
              <a:t>8</a:t>
            </a:r>
            <a:endParaRPr lang="en-US" dirty="0"/>
          </a:p>
          <a:p>
            <a:pPr lvl="8"/>
            <a:r>
              <a:rPr lang="en-US" dirty="0"/>
              <a:t>9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Colors, Links (Absolute &amp; Relative), Images, Favicon, Page Title Tables, Lists (Ordered, Unordered, Description)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HTML colors can be defined in three ways: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Name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>
                <a:latin typeface="Consolas" panose="020B0609020204030204"/>
              </a:rPr>
              <a:t>red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blue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green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Hex Code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>
                <a:latin typeface="Consolas" panose="020B0609020204030204"/>
              </a:rPr>
              <a:t>#ff0000</a:t>
            </a:r>
            <a:r>
              <a:rPr lang="en-US" dirty="0">
                <a:ea typeface="+mn-lt"/>
                <a:cs typeface="+mn-lt"/>
              </a:rPr>
              <a:t> (Red)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RGB / RGBA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latin typeface="Consolas" panose="020B0609020204030204"/>
              </a:rPr>
              <a:t>rgb</a:t>
            </a:r>
            <a:r>
              <a:rPr lang="en-US" dirty="0">
                <a:latin typeface="Consolas" panose="020B0609020204030204"/>
              </a:rPr>
              <a:t>(255,0,0)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dirty="0" err="1">
                <a:latin typeface="Consolas" panose="020B0609020204030204"/>
              </a:rPr>
              <a:t>rgba</a:t>
            </a:r>
            <a:r>
              <a:rPr lang="en-US" dirty="0">
                <a:latin typeface="Consolas" panose="020B0609020204030204"/>
              </a:rPr>
              <a:t>(255,0,0,0.5)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HSL / HSLA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latin typeface="Consolas" panose="020B0609020204030204"/>
              </a:rPr>
              <a:t>hsl</a:t>
            </a:r>
            <a:r>
              <a:rPr lang="en-US" dirty="0">
                <a:latin typeface="Consolas" panose="020B0609020204030204"/>
              </a:rPr>
              <a:t>(0,100%,50%)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1"/>
            <a:ext cx="6272022" cy="28243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Ex: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&lt;p style="</a:t>
            </a:r>
            <a:r>
              <a:rPr lang="en-US" dirty="0" err="1">
                <a:ea typeface="+mn-lt"/>
                <a:cs typeface="+mn-lt"/>
              </a:rPr>
              <a:t>color:red</a:t>
            </a:r>
            <a:r>
              <a:rPr lang="en-US" dirty="0">
                <a:ea typeface="+mn-lt"/>
                <a:cs typeface="+mn-lt"/>
              </a:rPr>
              <a:t>;"&gt;This is Red Text&lt;/p&gt;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&lt;p style="color:#00ff00;"&gt;This is Green Text&lt;/p&gt;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&lt;p style="</a:t>
            </a:r>
            <a:r>
              <a:rPr lang="en-US" dirty="0" err="1">
                <a:ea typeface="+mn-lt"/>
                <a:cs typeface="+mn-lt"/>
              </a:rPr>
              <a:t>color:rgb</a:t>
            </a:r>
            <a:r>
              <a:rPr lang="en-US" dirty="0">
                <a:ea typeface="+mn-lt"/>
                <a:cs typeface="+mn-lt"/>
              </a:rPr>
              <a:t>(0,0,255);"&gt;This is Blue Text&lt;/p&gt;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&lt;p style="</a:t>
            </a:r>
            <a:r>
              <a:rPr lang="en-US" dirty="0" err="1">
                <a:ea typeface="+mn-lt"/>
                <a:cs typeface="+mn-lt"/>
              </a:rPr>
              <a:t>background-color:rgba</a:t>
            </a:r>
            <a:r>
              <a:rPr lang="en-US" dirty="0">
                <a:ea typeface="+mn-lt"/>
                <a:cs typeface="+mn-lt"/>
              </a:rPr>
              <a:t>(255,0,0,0.3);"&gt;Transparent Red Background&lt;/p&gt;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Links(Absolute and Relative)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05818" y="2811743"/>
            <a:ext cx="5233791" cy="1530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/>
              <a:t>Absolute Link</a:t>
            </a:r>
            <a:r>
              <a:rPr lang="en-US" dirty="0"/>
              <a:t> → Full URL of external site</a:t>
            </a:r>
            <a:endParaRPr lang="en-US" dirty="0"/>
          </a:p>
          <a:p>
            <a:pPr>
              <a:buNone/>
            </a:pPr>
            <a:r>
              <a:rPr lang="en-US" dirty="0">
                <a:latin typeface="Consolas" panose="020B0609020204030204"/>
              </a:rPr>
              <a:t>&lt;a </a:t>
            </a:r>
            <a:r>
              <a:rPr lang="en-US" dirty="0" err="1">
                <a:latin typeface="Consolas" panose="020B0609020204030204"/>
              </a:rPr>
              <a:t>href</a:t>
            </a:r>
            <a:r>
              <a:rPr lang="en-US" dirty="0">
                <a:latin typeface="Consolas" panose="020B0609020204030204"/>
              </a:rPr>
              <a:t>="https://www.google.com" target="_blank"&gt;Visit Google&lt;/a&gt;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63127" y="604184"/>
            <a:ext cx="5233791" cy="1942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/>
              <a:t>Relative Link</a:t>
            </a:r>
            <a:r>
              <a:rPr lang="en-US" dirty="0"/>
              <a:t> → Points to file inside project</a:t>
            </a:r>
            <a:endParaRPr lang="en-US" dirty="0"/>
          </a:p>
          <a:p>
            <a:pPr>
              <a:buNone/>
            </a:pPr>
            <a:r>
              <a:rPr lang="en-US" dirty="0">
                <a:latin typeface="Consolas" panose="020B0609020204030204"/>
              </a:rPr>
              <a:t>&lt;a </a:t>
            </a:r>
            <a:r>
              <a:rPr lang="en-US" dirty="0" err="1">
                <a:latin typeface="Consolas" panose="020B0609020204030204"/>
              </a:rPr>
              <a:t>href</a:t>
            </a:r>
            <a:r>
              <a:rPr lang="en-US" dirty="0">
                <a:latin typeface="Consolas" panose="020B0609020204030204"/>
              </a:rPr>
              <a:t>="about.html"&gt;About Page&lt;/a&gt;
&lt;a </a:t>
            </a:r>
            <a:r>
              <a:rPr lang="en-US" dirty="0" err="1">
                <a:latin typeface="Consolas" panose="020B0609020204030204"/>
              </a:rPr>
              <a:t>href</a:t>
            </a:r>
            <a:r>
              <a:rPr lang="en-US" dirty="0">
                <a:latin typeface="Consolas" panose="020B0609020204030204"/>
              </a:rPr>
              <a:t>="docs/tutorial.html"&gt;Tutorial&lt;/a&gt;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41390" y="4606238"/>
            <a:ext cx="51188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dirty="0">
                <a:latin typeface="Consolas" panose="020B0609020204030204"/>
              </a:rPr>
              <a:t>target="_blank"</a:t>
            </a:r>
            <a:r>
              <a:rPr lang="en-US" dirty="0">
                <a:ea typeface="+mn-lt"/>
                <a:cs typeface="+mn-lt"/>
              </a:rPr>
              <a:t> → Opens in new tab</a:t>
            </a:r>
            <a:endParaRPr lang="en-US" dirty="0"/>
          </a:p>
          <a:p>
            <a:pPr marL="285750" indent="-285750">
              <a:buFont typeface="Arial" panose="020B0604020202020204"/>
              <a:buChar char="•"/>
            </a:pPr>
            <a:r>
              <a:rPr lang="en-US" dirty="0">
                <a:latin typeface="Consolas" panose="020B0609020204030204"/>
              </a:rPr>
              <a:t>target="_self"</a:t>
            </a:r>
            <a:r>
              <a:rPr lang="en-US" dirty="0">
                <a:ea typeface="+mn-lt"/>
                <a:cs typeface="+mn-lt"/>
              </a:rPr>
              <a:t> → Default, opens in same tab</a:t>
            </a:r>
            <a:endParaRPr lang="en-US" dirty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68565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US" sz="2400" dirty="0"/>
              <a:t>Images</a:t>
            </a:r>
            <a:endParaRPr lang="en-US" sz="2400" dirty="0"/>
          </a:p>
          <a:p>
            <a:pPr>
              <a:buFont typeface="Arial" panose="020B0604020202020204"/>
              <a:buChar char="•"/>
            </a:pPr>
            <a:r>
              <a:rPr lang="en-US" sz="2400" dirty="0"/>
              <a:t>Use </a:t>
            </a:r>
            <a:r>
              <a:rPr lang="en-US" sz="2400" dirty="0">
                <a:latin typeface="Consolas" panose="020B0609020204030204"/>
              </a:rPr>
              <a:t>&lt;</a:t>
            </a:r>
            <a:r>
              <a:rPr lang="en-US" sz="2400" dirty="0" err="1">
                <a:latin typeface="Consolas" panose="020B0609020204030204"/>
              </a:rPr>
              <a:t>img</a:t>
            </a:r>
            <a:r>
              <a:rPr lang="en-US" sz="2400" dirty="0">
                <a:latin typeface="Consolas" panose="020B0609020204030204"/>
              </a:rPr>
              <a:t>&gt;</a:t>
            </a:r>
            <a:r>
              <a:rPr lang="en-US" sz="2400" dirty="0"/>
              <a:t> tag → </a:t>
            </a:r>
            <a:r>
              <a:rPr lang="en-US" sz="2400" b="1" dirty="0"/>
              <a:t>self-closing</a:t>
            </a:r>
            <a:r>
              <a:rPr lang="en-US" sz="2400" dirty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</a:t>
            </a:r>
            <a:endParaRPr lang="en-US" sz="2400" dirty="0"/>
          </a:p>
          <a:p>
            <a:pPr>
              <a:buFont typeface="Arial" panose="020B0604020202020204"/>
              <a:buChar char="•"/>
            </a:pPr>
            <a:r>
              <a:rPr lang="en-US" sz="2400" dirty="0">
                <a:latin typeface="Consolas" panose="020B0609020204030204"/>
              </a:rPr>
              <a:t>&lt;</a:t>
            </a:r>
            <a:r>
              <a:rPr lang="en-US" sz="2400" dirty="0" err="1">
                <a:latin typeface="Consolas" panose="020B0609020204030204"/>
              </a:rPr>
              <a:t>img</a:t>
            </a:r>
            <a:r>
              <a:rPr lang="en-US" sz="2400" dirty="0">
                <a:latin typeface="Consolas" panose="020B0609020204030204"/>
              </a:rPr>
              <a:t> </a:t>
            </a:r>
            <a:r>
              <a:rPr lang="en-US" sz="2400" dirty="0" err="1">
                <a:latin typeface="Consolas" panose="020B0609020204030204"/>
              </a:rPr>
              <a:t>src</a:t>
            </a:r>
            <a:r>
              <a:rPr lang="en-US" sz="2400" dirty="0">
                <a:latin typeface="Consolas" panose="020B0609020204030204"/>
              </a:rPr>
              <a:t>="images/pic.jpg" alt="Nature Picture" width="400" height="300"&gt;</a:t>
            </a:r>
            <a:br>
              <a:rPr lang="en-US" sz="2400" dirty="0">
                <a:latin typeface="Consolas" panose="020B0609020204030204"/>
              </a:rPr>
            </a:br>
            <a:endParaRPr lang="en-US" sz="2400"/>
          </a:p>
          <a:p>
            <a:pPr>
              <a:buFont typeface="Arial" panose="020B0604020202020204"/>
              <a:buChar char="•"/>
            </a:pPr>
            <a:r>
              <a:rPr lang="en-US" sz="2400" dirty="0" err="1">
                <a:latin typeface="Consolas" panose="020B0609020204030204"/>
              </a:rPr>
              <a:t>src</a:t>
            </a:r>
            <a:r>
              <a:rPr lang="en-US" sz="2400" dirty="0"/>
              <a:t> → File path or URL of image</a:t>
            </a:r>
            <a:endParaRPr lang="en-US" sz="2400" dirty="0"/>
          </a:p>
          <a:p>
            <a:pPr>
              <a:buFont typeface="Arial" panose="020B0604020202020204"/>
              <a:buChar char="•"/>
            </a:pPr>
            <a:r>
              <a:rPr lang="en-US" sz="2400" dirty="0">
                <a:latin typeface="Consolas" panose="020B0609020204030204"/>
              </a:rPr>
              <a:t>alt</a:t>
            </a:r>
            <a:r>
              <a:rPr lang="en-US" sz="2400" dirty="0"/>
              <a:t> → Alternative text (</a:t>
            </a:r>
            <a:r>
              <a:rPr lang="en-US" sz="2400" dirty="0" err="1"/>
              <a:t>foraccessibility</a:t>
            </a:r>
            <a:r>
              <a:rPr lang="en-US" sz="2400" dirty="0"/>
              <a:t> &amp; when image </a:t>
            </a:r>
            <a:r>
              <a:rPr lang="en-US" sz="2400" dirty="0" err="1"/>
              <a:t>notloaded</a:t>
            </a:r>
            <a:r>
              <a:rPr lang="en-US" sz="2400" dirty="0"/>
              <a:t>)</a:t>
            </a:r>
            <a:endParaRPr lang="en-US" sz="2400" dirty="0"/>
          </a:p>
          <a:p>
            <a:pPr>
              <a:buFont typeface="Arial" panose="020B0604020202020204"/>
              <a:buChar char="•"/>
            </a:pPr>
            <a:r>
              <a:rPr lang="en-US" sz="2400" dirty="0">
                <a:latin typeface="Consolas" panose="020B0609020204030204"/>
              </a:rPr>
              <a:t>width</a:t>
            </a:r>
            <a:r>
              <a:rPr lang="en-US" sz="2400" dirty="0"/>
              <a:t>, </a:t>
            </a:r>
            <a:r>
              <a:rPr lang="en-US" sz="2400" dirty="0">
                <a:latin typeface="Consolas" panose="020B0609020204030204"/>
              </a:rPr>
              <a:t>height</a:t>
            </a:r>
            <a:r>
              <a:rPr lang="en-US" sz="2400" dirty="0"/>
              <a:t> → Adjust image size</a:t>
            </a:r>
            <a:endParaRPr lang="en-US" sz="2400" dirty="0"/>
          </a:p>
          <a:p>
            <a:pPr>
              <a:buFont typeface="Arial" panose="020B0604020202020204"/>
              <a:buChar char="•"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Set inside </a:t>
            </a:r>
            <a:r>
              <a:rPr lang="en-US" dirty="0">
                <a:latin typeface="Consolas" panose="020B0609020204030204"/>
              </a:rPr>
              <a:t>&lt;title&gt;</a:t>
            </a:r>
            <a:r>
              <a:rPr lang="en-US" dirty="0">
                <a:ea typeface="+mn-lt"/>
                <a:cs typeface="+mn-lt"/>
              </a:rPr>
              <a:t> tag (inside </a:t>
            </a:r>
            <a:r>
              <a:rPr lang="en-US" dirty="0">
                <a:latin typeface="Consolas" panose="020B0609020204030204"/>
              </a:rPr>
              <a:t>&lt;head&gt;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Example: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latin typeface="Consolas" panose="020B0609020204030204"/>
              </a:rPr>
              <a:t>&lt;head&gt;
  &lt;title&gt;My Portfolio Website&lt;/title&gt;
&lt;/head&gt;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7"/>
            <a:ext cx="6281873" cy="60548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Tables use </a:t>
            </a:r>
            <a:r>
              <a:rPr lang="en-US" dirty="0">
                <a:latin typeface="Consolas" panose="020B0609020204030204"/>
              </a:rPr>
              <a:t>&lt;table&gt;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&lt;tr&gt;</a:t>
            </a:r>
            <a:r>
              <a:rPr lang="en-US" dirty="0">
                <a:ea typeface="+mn-lt"/>
                <a:cs typeface="+mn-lt"/>
              </a:rPr>
              <a:t> (row), </a:t>
            </a:r>
            <a:r>
              <a:rPr lang="en-US" dirty="0">
                <a:latin typeface="Consolas" panose="020B0609020204030204"/>
              </a:rPr>
              <a:t>&lt;td&gt;</a:t>
            </a:r>
            <a:r>
              <a:rPr lang="en-US" dirty="0">
                <a:ea typeface="+mn-lt"/>
                <a:cs typeface="+mn-lt"/>
              </a:rPr>
              <a:t> (data), </a:t>
            </a:r>
            <a:r>
              <a:rPr lang="en-US" dirty="0">
                <a:latin typeface="Consolas" panose="020B0609020204030204"/>
              </a:rPr>
              <a:t>&lt;</a:t>
            </a:r>
            <a:r>
              <a:rPr lang="en-US" dirty="0" err="1">
                <a:latin typeface="Consolas" panose="020B0609020204030204"/>
              </a:rPr>
              <a:t>th</a:t>
            </a:r>
            <a:r>
              <a:rPr lang="en-US" dirty="0">
                <a:latin typeface="Consolas" panose="020B0609020204030204"/>
              </a:rPr>
              <a:t>&gt;</a:t>
            </a:r>
            <a:r>
              <a:rPr lang="en-US" dirty="0">
                <a:ea typeface="+mn-lt"/>
                <a:cs typeface="+mn-lt"/>
              </a:rPr>
              <a:t> (header).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5303652" y="2091485"/>
            <a:ext cx="4423054" cy="525350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&lt;table border="1"&gt;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 &lt;tr&gt;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   &lt;</a:t>
            </a:r>
            <a:r>
              <a:rPr lang="en-US" sz="1200" dirty="0" err="1">
                <a:ea typeface="+mn-lt"/>
                <a:cs typeface="+mn-lt"/>
              </a:rPr>
              <a:t>th</a:t>
            </a:r>
            <a:r>
              <a:rPr lang="en-US" sz="1200" dirty="0">
                <a:ea typeface="+mn-lt"/>
                <a:cs typeface="+mn-lt"/>
              </a:rPr>
              <a:t>&gt;Name&lt;/</a:t>
            </a:r>
            <a:r>
              <a:rPr lang="en-US" sz="1200" dirty="0" err="1">
                <a:ea typeface="+mn-lt"/>
                <a:cs typeface="+mn-lt"/>
              </a:rPr>
              <a:t>th</a:t>
            </a:r>
            <a:r>
              <a:rPr lang="en-US" sz="1200" dirty="0">
                <a:ea typeface="+mn-lt"/>
                <a:cs typeface="+mn-lt"/>
              </a:rPr>
              <a:t>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   &lt;</a:t>
            </a:r>
            <a:r>
              <a:rPr lang="en-US" sz="1200" dirty="0" err="1">
                <a:ea typeface="+mn-lt"/>
                <a:cs typeface="+mn-lt"/>
              </a:rPr>
              <a:t>th</a:t>
            </a:r>
            <a:r>
              <a:rPr lang="en-US" sz="1200" dirty="0">
                <a:ea typeface="+mn-lt"/>
                <a:cs typeface="+mn-lt"/>
              </a:rPr>
              <a:t>&gt;Age&lt;/</a:t>
            </a:r>
            <a:r>
              <a:rPr lang="en-US" sz="1200" dirty="0" err="1">
                <a:ea typeface="+mn-lt"/>
                <a:cs typeface="+mn-lt"/>
              </a:rPr>
              <a:t>th</a:t>
            </a:r>
            <a:r>
              <a:rPr lang="en-US" sz="1200" dirty="0">
                <a:ea typeface="+mn-lt"/>
                <a:cs typeface="+mn-lt"/>
              </a:rPr>
              <a:t>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 &lt;/tr&gt;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 &lt;tr&gt;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   &lt;td&gt;Alice&lt;/td&gt;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   &lt;td&gt;22&lt;/td&gt;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 &lt;/tr&gt;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 &lt;tr&gt;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   &lt;td&gt;Bob&lt;/td&gt;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   &lt;td&gt;25&lt;/td&gt;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  &lt;/tr&gt;</a:t>
            </a:r>
            <a:endParaRPr lang="en-US" sz="1200" dirty="0"/>
          </a:p>
          <a:p>
            <a:pPr>
              <a:buNone/>
            </a:pPr>
            <a:r>
              <a:rPr lang="en-US" sz="1200" dirty="0">
                <a:ea typeface="+mn-lt"/>
                <a:cs typeface="+mn-lt"/>
              </a:rPr>
              <a:t>&lt;/table&gt;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26523" y="480919"/>
            <a:ext cx="2469777" cy="246875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Ordered List (</a:t>
            </a:r>
            <a:r>
              <a:rPr lang="en-US" dirty="0">
                <a:latin typeface="Consolas" panose="020B0609020204030204"/>
              </a:rPr>
              <a:t>&lt;</a:t>
            </a:r>
            <a:r>
              <a:rPr lang="en-US" err="1">
                <a:latin typeface="Consolas" panose="020B0609020204030204"/>
              </a:rPr>
              <a:t>ol</a:t>
            </a:r>
            <a:r>
              <a:rPr lang="en-US" dirty="0">
                <a:latin typeface="Consolas" panose="020B0609020204030204"/>
              </a:rPr>
              <a:t>&gt;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</a:t>
            </a:r>
            <a:r>
              <a:rPr lang="en-US" dirty="0" err="1">
                <a:ea typeface="+mn-lt"/>
                <a:cs typeface="+mn-lt"/>
              </a:rPr>
              <a:t>ol</a:t>
            </a:r>
            <a:r>
              <a:rPr lang="en-US" dirty="0">
                <a:ea typeface="+mn-lt"/>
                <a:cs typeface="+mn-lt"/>
              </a:rPr>
              <a:t>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&lt;li&gt;HTML&lt;/li&gt;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&lt;li&gt;CSS&lt;/li&gt;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&lt;li&gt;JavaScript&lt;/li&gt;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&lt;/</a:t>
            </a:r>
            <a:r>
              <a:rPr lang="en-US" dirty="0" err="1">
                <a:ea typeface="+mn-lt"/>
                <a:cs typeface="+mn-lt"/>
              </a:rPr>
              <a:t>ol</a:t>
            </a:r>
            <a:r>
              <a:rPr lang="en-US" dirty="0">
                <a:ea typeface="+mn-lt"/>
                <a:cs typeface="+mn-lt"/>
              </a:rPr>
              <a:t>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7642" y="2184213"/>
            <a:ext cx="2783542" cy="249116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Unordered List (</a:t>
            </a:r>
            <a:r>
              <a:rPr lang="en-US" dirty="0">
                <a:latin typeface="Consolas" panose="020B0609020204030204"/>
              </a:rPr>
              <a:t>&lt;ul&gt;</a:t>
            </a:r>
            <a:r>
              <a:rPr lang="en-US" dirty="0"/>
              <a:t>)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&lt;ul&gt;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&lt;li&gt;Apple&lt;/li&gt;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&lt;li&gt;Banana&lt;/li&gt;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&lt;li&gt;Orange&lt;/li&gt;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&lt;/ul&gt;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92680" y="4300972"/>
            <a:ext cx="351738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Description List (</a:t>
            </a:r>
            <a:r>
              <a:rPr lang="en-US" sz="1600" dirty="0">
                <a:latin typeface="Consolas" panose="020B0609020204030204"/>
              </a:rPr>
              <a:t>&lt;dl&gt;</a:t>
            </a:r>
            <a:r>
              <a:rPr lang="en-US" sz="1600" dirty="0">
                <a:ea typeface="+mn-lt"/>
                <a:cs typeface="+mn-lt"/>
              </a:rPr>
              <a:t>)</a:t>
            </a:r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&lt;dl&gt;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  &lt;dt&gt;HTML&lt;/dt&gt;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  &lt;dd&gt;</a:t>
            </a:r>
            <a:r>
              <a:rPr lang="en-US" sz="1600" dirty="0" err="1">
                <a:ea typeface="+mn-lt"/>
                <a:cs typeface="+mn-lt"/>
              </a:rPr>
              <a:t>HyperText</a:t>
            </a:r>
            <a:r>
              <a:rPr lang="en-US" sz="1600" dirty="0">
                <a:ea typeface="+mn-lt"/>
                <a:cs typeface="+mn-lt"/>
              </a:rPr>
              <a:t> Markup Language&lt;/dd&gt;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  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  &lt;dt&gt;CSS&lt;/dt&gt;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  &lt;dd&gt;Cascading Style Sheets&lt;/dd&gt;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&lt;/dl&gt;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Aptos"/>
              </a:rPr>
              <a:t>🌐</a:t>
            </a:r>
            <a:r>
              <a:rPr lang="en-US" dirty="0"/>
              <a:t>Favicon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Small icon shown in browser tab.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Example (inside </a:t>
            </a:r>
            <a:r>
              <a:rPr lang="en-US" dirty="0">
                <a:latin typeface="Consolas" panose="020B0609020204030204"/>
              </a:rPr>
              <a:t>&lt;head&gt;</a:t>
            </a:r>
            <a:r>
              <a:rPr lang="en-US" dirty="0">
                <a:ea typeface="+mn-lt"/>
                <a:cs typeface="+mn-lt"/>
              </a:rPr>
              <a:t>):</a:t>
            </a:r>
            <a:endParaRPr lang="en-US" dirty="0"/>
          </a:p>
          <a:p>
            <a:pPr>
              <a:buNone/>
            </a:pPr>
            <a:r>
              <a:rPr lang="en-US" dirty="0">
                <a:latin typeface="Consolas" panose="020B0609020204030204"/>
              </a:rPr>
              <a:t>&lt;link </a:t>
            </a:r>
            <a:r>
              <a:rPr lang="en-US" dirty="0" err="1">
                <a:latin typeface="Consolas" panose="020B0609020204030204"/>
              </a:rPr>
              <a:t>rel</a:t>
            </a:r>
            <a:r>
              <a:rPr lang="en-US" dirty="0">
                <a:latin typeface="Consolas" panose="020B0609020204030204"/>
              </a:rPr>
              <a:t>="icon" type="image/</a:t>
            </a:r>
            <a:r>
              <a:rPr lang="en-US" dirty="0" err="1">
                <a:latin typeface="Consolas" panose="020B0609020204030204"/>
              </a:rPr>
              <a:t>png</a:t>
            </a:r>
            <a:r>
              <a:rPr lang="en-US" dirty="0">
                <a:latin typeface="Consolas" panose="020B0609020204030204"/>
              </a:rPr>
              <a:t>" </a:t>
            </a:r>
            <a:r>
              <a:rPr lang="en-US" dirty="0" err="1">
                <a:latin typeface="Consolas" panose="020B0609020204030204"/>
              </a:rPr>
              <a:t>href</a:t>
            </a:r>
            <a:r>
              <a:rPr lang="en-US" dirty="0">
                <a:latin typeface="Consolas" panose="020B0609020204030204"/>
              </a:rPr>
              <a:t>="images/favicon.png"&gt;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1845</Words>
  <Application>WPS Presentation</Application>
  <PresentationFormat>Widescreen</PresentationFormat>
  <Paragraphs>108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Consolas</vt:lpstr>
      <vt:lpstr>Arial</vt:lpstr>
      <vt:lpstr>Aptos</vt:lpstr>
      <vt:lpstr>Segoe UI</vt:lpstr>
      <vt:lpstr>Calibri Light</vt:lpstr>
      <vt:lpstr>Rockwell</vt:lpstr>
      <vt:lpstr>Microsoft YaHei</vt:lpstr>
      <vt:lpstr>Arial Unicode MS</vt:lpstr>
      <vt:lpstr>Calibri</vt:lpstr>
      <vt:lpstr>Atlas</vt:lpstr>
      <vt:lpstr>Day4</vt:lpstr>
      <vt:lpstr>Colors</vt:lpstr>
      <vt:lpstr>Links(Absolute and Relative)</vt:lpstr>
      <vt:lpstr>Image</vt:lpstr>
      <vt:lpstr>Page title</vt:lpstr>
      <vt:lpstr>Tables</vt:lpstr>
      <vt:lpstr>List</vt:lpstr>
      <vt:lpstr>🌐Favicon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vaish</cp:lastModifiedBy>
  <cp:revision>102</cp:revision>
  <dcterms:created xsi:type="dcterms:W3CDTF">2025-08-29T08:49:00Z</dcterms:created>
  <dcterms:modified xsi:type="dcterms:W3CDTF">2025-10-08T06:38:41Z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05AAFDE992294CC5AE0221C9B4E69416_12</vt:lpwstr>
  </property>
  <property fmtid="{D5CDD505-2E9C-101B-9397-08002B2CF9AE}" pid="3" name="KSOProductBuildVer">
    <vt:lpwstr>1033-12.2.0.23131</vt:lpwstr>
  </property>
</Properties>
</file>