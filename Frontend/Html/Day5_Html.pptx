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  <a:p>
            <a:pPr lvl="5"/>
            <a:r>
              <a:rPr lang="en-US" dirty="0"/>
              <a:t>6</a:t>
            </a:r>
            <a:endParaRPr lang="en-US" dirty="0"/>
          </a:p>
          <a:p>
            <a:pPr lvl="6"/>
            <a:r>
              <a:rPr lang="en-US" dirty="0"/>
              <a:t>7</a:t>
            </a:r>
            <a:endParaRPr lang="en-US" dirty="0"/>
          </a:p>
          <a:p>
            <a:pPr lvl="7"/>
            <a:r>
              <a:rPr lang="en-US" dirty="0"/>
              <a:t>8</a:t>
            </a:r>
            <a:endParaRPr lang="en-US" dirty="0"/>
          </a:p>
          <a:p>
            <a:pPr lvl="8"/>
            <a:r>
              <a:rPr lang="en-US" dirty="0"/>
              <a:t>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Day5  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Block , Inline Elements Div, Class, Id, </a:t>
            </a:r>
            <a:r>
              <a:rPr lang="en-US" dirty="0" err="1">
                <a:ea typeface="+mn-lt"/>
                <a:cs typeface="+mn-lt"/>
              </a:rPr>
              <a:t>Iframes</a:t>
            </a:r>
            <a:r>
              <a:rPr lang="en-US" dirty="0">
                <a:ea typeface="+mn-lt"/>
                <a:cs typeface="+mn-lt"/>
              </a:rPr>
              <a:t>, File Paths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Block line vs Inline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Block Elements</a:t>
            </a:r>
            <a:r>
              <a:rPr lang="en-US" dirty="0">
                <a:ea typeface="+mn-lt"/>
                <a:cs typeface="+mn-lt"/>
              </a:rPr>
              <a:t> → Start on a new line, take full width.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Examples: </a:t>
            </a:r>
            <a:r>
              <a:rPr lang="en-US" dirty="0">
                <a:latin typeface="Consolas" panose="020B0609020204030204"/>
              </a:rPr>
              <a:t>&lt;div&gt;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&lt;p&gt;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&lt;h1&gt;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&lt;table&gt;</a:t>
            </a:r>
            <a:endParaRPr lang="en-US" dirty="0">
              <a:latin typeface="Consolas" panose="020B0609020204030204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/>
                <a:ea typeface="+mn-lt"/>
                <a:cs typeface="+mn-lt"/>
              </a:rPr>
              <a:t>Eg</a:t>
            </a:r>
            <a:endParaRPr lang="en-US" dirty="0">
              <a:latin typeface="Consolas" panose="020B0609020204030204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&lt;p&gt;This is a block-level paragraph.&lt;/p&gt;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&lt;div&gt;This is a block-level div.&lt;/div&gt;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Inline Elements</a:t>
            </a:r>
            <a:r>
              <a:rPr lang="en-US" dirty="0">
                <a:ea typeface="+mn-lt"/>
                <a:cs typeface="+mn-lt"/>
              </a:rPr>
              <a:t> → Don’t start new line, only take space as needed.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Examples: </a:t>
            </a:r>
            <a:r>
              <a:rPr lang="en-US" dirty="0">
                <a:latin typeface="Consolas" panose="020B0609020204030204"/>
              </a:rPr>
              <a:t>&lt;span&gt;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&lt;a&gt;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&lt;strong&gt;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Consolas" panose="020B0609020204030204"/>
              </a:rPr>
              <a:t>&lt;</a:t>
            </a:r>
            <a:r>
              <a:rPr lang="en-US" dirty="0" err="1">
                <a:latin typeface="Consolas" panose="020B0609020204030204"/>
              </a:rPr>
              <a:t>img</a:t>
            </a:r>
            <a:r>
              <a:rPr lang="en-US" dirty="0">
                <a:latin typeface="Consolas" panose="020B0609020204030204"/>
              </a:rPr>
              <a:t>&gt;</a:t>
            </a:r>
            <a:endParaRPr lang="en-US" dirty="0">
              <a:latin typeface="Consolas" panose="020B0609020204030204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/>
              </a:rPr>
              <a:t>Eg:</a:t>
            </a:r>
            <a:endParaRPr lang="en-US" dirty="0">
              <a:latin typeface="Consolas" panose="020B0609020204030204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&lt;p&gt;This is &lt;span&gt;inline text&lt;/span&gt; inside a paragraph.&lt;/p&gt;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&lt;a </a:t>
            </a:r>
            <a:r>
              <a:rPr lang="en-US" dirty="0" err="1">
                <a:ea typeface="+mn-lt"/>
                <a:cs typeface="+mn-lt"/>
              </a:rPr>
              <a:t>href</a:t>
            </a:r>
            <a:r>
              <a:rPr lang="en-US" dirty="0">
                <a:ea typeface="+mn-lt"/>
                <a:cs typeface="+mn-lt"/>
              </a:rPr>
              <a:t>="#"&gt;This is an inline link&lt;/a&gt;</a:t>
            </a:r>
            <a:endParaRPr lang="en-US" dirty="0"/>
          </a:p>
          <a:p>
            <a:pPr marL="0" indent="0">
              <a:buNone/>
            </a:pPr>
            <a:endParaRPr lang="en-US" dirty="0"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40352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&lt;span&gt; Tag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Purpose: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&lt;span&gt; is a </a:t>
            </a:r>
            <a:r>
              <a:rPr lang="en-US" sz="2000" b="1" dirty="0">
                <a:ea typeface="+mn-lt"/>
                <a:cs typeface="+mn-lt"/>
              </a:rPr>
              <a:t>generic inline container</a:t>
            </a:r>
            <a:r>
              <a:rPr lang="en-US" sz="2000" dirty="0">
                <a:ea typeface="+mn-lt"/>
                <a:cs typeface="+mn-lt"/>
              </a:rPr>
              <a:t> used to apply styles (CSS) or JavaScript to a small piece of text </a:t>
            </a:r>
            <a:r>
              <a:rPr lang="en-US" sz="2000" b="1" dirty="0">
                <a:ea typeface="+mn-lt"/>
                <a:cs typeface="+mn-lt"/>
              </a:rPr>
              <a:t>without affecting the layout</a:t>
            </a:r>
            <a:r>
              <a:rPr lang="en-US" sz="2000" dirty="0">
                <a:ea typeface="+mn-lt"/>
                <a:cs typeface="+mn-lt"/>
              </a:rPr>
              <a:t>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It </a:t>
            </a:r>
            <a:r>
              <a:rPr lang="en-US" sz="2000" b="1" dirty="0">
                <a:ea typeface="+mn-lt"/>
                <a:cs typeface="+mn-lt"/>
              </a:rPr>
              <a:t>does not add any visual change</a:t>
            </a:r>
            <a:r>
              <a:rPr lang="en-US" sz="2000" dirty="0">
                <a:ea typeface="+mn-lt"/>
                <a:cs typeface="+mn-lt"/>
              </a:rPr>
              <a:t> by itself.</a:t>
            </a:r>
            <a:endParaRPr lang="en-US" dirty="0"/>
          </a:p>
          <a:p>
            <a:pPr>
              <a:buNone/>
            </a:pPr>
            <a:r>
              <a:rPr lang="en-US" sz="2000" dirty="0"/>
              <a:t>Eg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&lt;p&gt;This is a &lt;span style="color: red;"&gt;red&lt;/span&gt; word.&lt;/p&gt;</a:t>
            </a:r>
            <a:endParaRPr lang="en-US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202436"/>
            <a:ext cx="6167638" cy="285331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&lt;a&gt; Tag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Purpose: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The &lt;a&gt; tag is used to create </a:t>
            </a:r>
            <a:r>
              <a:rPr lang="en-US" sz="2000" b="1" dirty="0">
                <a:ea typeface="+mn-lt"/>
                <a:cs typeface="+mn-lt"/>
              </a:rPr>
              <a:t>hyperlinks</a:t>
            </a:r>
            <a:r>
              <a:rPr lang="en-US" sz="2000" dirty="0">
                <a:ea typeface="+mn-lt"/>
                <a:cs typeface="+mn-lt"/>
              </a:rPr>
              <a:t>.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It allows users to </a:t>
            </a:r>
            <a:r>
              <a:rPr lang="en-US" sz="2000" b="1" dirty="0">
                <a:ea typeface="+mn-lt"/>
                <a:cs typeface="+mn-lt"/>
              </a:rPr>
              <a:t>navigate</a:t>
            </a:r>
            <a:r>
              <a:rPr lang="en-US" sz="2000" dirty="0">
                <a:ea typeface="+mn-lt"/>
                <a:cs typeface="+mn-lt"/>
              </a:rPr>
              <a:t> to another webpage, file, email, or location within the same page.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Attribute: </a:t>
            </a:r>
            <a:r>
              <a:rPr lang="en-US" sz="2000" b="1" dirty="0" err="1">
                <a:ea typeface="+mn-lt"/>
                <a:cs typeface="+mn-lt"/>
              </a:rPr>
              <a:t>href</a:t>
            </a:r>
            <a:r>
              <a:rPr lang="en-US" sz="2000" b="1" dirty="0">
                <a:ea typeface="+mn-lt"/>
                <a:cs typeface="+mn-lt"/>
              </a:rPr>
              <a:t> — specifies the URL or link destination.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Example: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&lt;a </a:t>
            </a:r>
            <a:r>
              <a:rPr lang="en-US" sz="2000" dirty="0" err="1">
                <a:ea typeface="+mn-lt"/>
                <a:cs typeface="+mn-lt"/>
              </a:rPr>
              <a:t>href</a:t>
            </a:r>
            <a:r>
              <a:rPr lang="en-US" sz="2000" dirty="0">
                <a:ea typeface="+mn-lt"/>
                <a:cs typeface="+mn-lt"/>
              </a:rPr>
              <a:t>="https://www.google.com"&gt;Visit Google&lt;/a&gt;</a:t>
            </a:r>
            <a:endParaRPr lang="en-US" sz="2000" dirty="0"/>
          </a:p>
          <a:p>
            <a:pPr marL="0" indent="0">
              <a:buNone/>
            </a:pPr>
            <a:r>
              <a:rPr lang="en-US" sz="1400" dirty="0"/>
              <a:t>Clicking "Visit Google" takes you to </a:t>
            </a:r>
            <a:r>
              <a:rPr lang="en-US" sz="1400" b="1" dirty="0"/>
              <a:t>google.com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&lt;strong&gt;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dirty="0">
                <a:ea typeface="+mn-lt"/>
                <a:cs typeface="+mn-lt"/>
              </a:rPr>
              <a:t>Indicates </a:t>
            </a:r>
            <a:r>
              <a:rPr lang="en-US" b="1" dirty="0">
                <a:ea typeface="+mn-lt"/>
                <a:cs typeface="+mn-lt"/>
              </a:rPr>
              <a:t>important</a:t>
            </a:r>
            <a:r>
              <a:rPr lang="en-US" dirty="0">
                <a:ea typeface="+mn-lt"/>
                <a:cs typeface="+mn-lt"/>
              </a:rPr>
              <a:t> text.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dirty="0">
                <a:ea typeface="+mn-lt"/>
                <a:cs typeface="+mn-lt"/>
              </a:rPr>
              <a:t>Typically shown as </a:t>
            </a:r>
            <a:r>
              <a:rPr lang="en-US" b="1" dirty="0">
                <a:ea typeface="+mn-lt"/>
                <a:cs typeface="+mn-lt"/>
              </a:rPr>
              <a:t>bold</a:t>
            </a:r>
            <a:r>
              <a:rPr lang="en-US" dirty="0">
                <a:ea typeface="+mn-lt"/>
                <a:cs typeface="+mn-lt"/>
              </a:rPr>
              <a:t> by default.</a:t>
            </a:r>
            <a:endParaRPr lang="en-US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&lt;p&gt;This is &lt;strong&gt;very important&lt;/strong&gt; information.&lt;/p&gt;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&lt;</a:t>
            </a:r>
            <a:r>
              <a:rPr lang="en-US" b="1" dirty="0" err="1">
                <a:ea typeface="+mn-lt"/>
                <a:cs typeface="+mn-lt"/>
              </a:rPr>
              <a:t>img</a:t>
            </a:r>
            <a:r>
              <a:rPr lang="en-US" b="1" dirty="0">
                <a:ea typeface="+mn-lt"/>
                <a:cs typeface="+mn-lt"/>
              </a:rPr>
              <a:t>&gt; Tag</a:t>
            </a:r>
            <a:endParaRPr lang="en-US" dirty="0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Purpose: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Used to </a:t>
            </a:r>
            <a:r>
              <a:rPr lang="en-US" b="1" dirty="0">
                <a:ea typeface="+mn-lt"/>
                <a:cs typeface="+mn-lt"/>
              </a:rPr>
              <a:t>embed images</a:t>
            </a:r>
            <a:r>
              <a:rPr lang="en-US" dirty="0">
                <a:ea typeface="+mn-lt"/>
                <a:cs typeface="+mn-lt"/>
              </a:rPr>
              <a:t> into a webpage.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4294967295"/>
          </p:nvPr>
        </p:nvGraphicFramePr>
        <p:xfrm>
          <a:off x="5375753" y="2962710"/>
          <a:ext cx="4034936" cy="2661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783"/>
                <a:gridCol w="191715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  <a:endParaRPr lang="en-US" dirty="0"/>
                    </a:p>
                  </a:txBody>
                  <a:tcPr/>
                </a:tc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src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Image file location</a:t>
                      </a:r>
                      <a:endParaRPr lang="en-US" dirty="0"/>
                    </a:p>
                  </a:txBody>
                  <a:tcPr/>
                </a:tc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Alternative text</a:t>
                      </a:r>
                      <a:endParaRPr lang="en-US" dirty="0"/>
                    </a:p>
                  </a:txBody>
                  <a:tcPr/>
                </a:tc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width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Width of the image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 of the image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Div, Class, 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7214" y="1711323"/>
            <a:ext cx="6281873" cy="29417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Div</a:t>
            </a:r>
            <a:r>
              <a:rPr lang="en-US" dirty="0"/>
              <a:t> (Container for grouping elements)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&lt;div style="</a:t>
            </a:r>
            <a:r>
              <a:rPr lang="en-US" dirty="0" err="1">
                <a:latin typeface="Consolas" panose="020B0609020204030204"/>
              </a:rPr>
              <a:t>background-color:lightblue</a:t>
            </a:r>
            <a:r>
              <a:rPr lang="en-US" dirty="0">
                <a:latin typeface="Consolas" panose="020B0609020204030204"/>
              </a:rPr>
              <a:t>; padding:10px;"&gt;
  &lt;h2&gt;Welcome&lt;/h2&gt;
  &lt;p&gt;This is inside a div.&lt;/p&gt;
&lt;/div&gt;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015" y="2112836"/>
            <a:ext cx="6281873" cy="317139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Class</a:t>
            </a:r>
            <a:r>
              <a:rPr lang="en-US" dirty="0"/>
              <a:t> (Reusable, multiple elements)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&lt;p class="highlight"&gt;Paragraph 1&lt;/p&gt;
&lt;p class="highlight"&gt;Paragraph 2&lt;/p&gt;
&lt;style&gt;
  .highlight { color: blue; font-weight: bold; }
&lt;/style&gt;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1515" y="1711323"/>
            <a:ext cx="6281873" cy="31087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/>
              <a:t>Id</a:t>
            </a:r>
            <a:r>
              <a:rPr lang="en-US" dirty="0"/>
              <a:t> (Unique, used once per page)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&lt;p id="special"&gt;This is special text&lt;/p&gt;
&lt;style&gt;
  #special { color: red; font-size: 20px; }
&lt;/style&gt;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iFrame</a:t>
            </a:r>
            <a:endParaRPr lang="en-US" dirty="0" err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0639" y="1982720"/>
            <a:ext cx="6281873" cy="2461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/>
              <a:t>Iframes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Used to embed another webpage inside your page.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Example:</a:t>
            </a:r>
            <a:endParaRPr lang="en-US" dirty="0"/>
          </a:p>
          <a:p>
            <a:pPr>
              <a:buNone/>
            </a:pPr>
            <a:r>
              <a:rPr lang="en-US" dirty="0">
                <a:latin typeface="Consolas" panose="020B0609020204030204"/>
              </a:rPr>
              <a:t>&lt;</a:t>
            </a:r>
            <a:r>
              <a:rPr lang="en-US" dirty="0" err="1">
                <a:latin typeface="Consolas" panose="020B0609020204030204"/>
              </a:rPr>
              <a:t>iframe</a:t>
            </a:r>
            <a:r>
              <a:rPr lang="en-US" dirty="0">
                <a:latin typeface="Consolas" panose="020B0609020204030204"/>
              </a:rPr>
              <a:t> </a:t>
            </a:r>
            <a:r>
              <a:rPr lang="en-US" dirty="0" err="1">
                <a:latin typeface="Consolas" panose="020B0609020204030204"/>
              </a:rPr>
              <a:t>src</a:t>
            </a:r>
            <a:r>
              <a:rPr lang="en-US" dirty="0">
                <a:latin typeface="Consolas" panose="020B0609020204030204"/>
              </a:rPr>
              <a:t>="https://www.wikipedia.org" width="600" height="400"&gt;&lt;/</a:t>
            </a:r>
            <a:r>
              <a:rPr lang="en-US" dirty="0" err="1">
                <a:latin typeface="Consolas" panose="020B0609020204030204"/>
              </a:rPr>
              <a:t>iframe</a:t>
            </a:r>
            <a:r>
              <a:rPr lang="en-US" dirty="0">
                <a:latin typeface="Consolas" panose="020B0609020204030204"/>
              </a:rPr>
              <a:t>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7825105" y="4953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Paths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1565187"/>
            <a:ext cx="6280029" cy="1547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b="1" dirty="0">
                <a:ea typeface="+mn-lt"/>
                <a:cs typeface="+mn-lt"/>
              </a:rPr>
              <a:t>Absolute Path</a:t>
            </a:r>
            <a:r>
              <a:rPr lang="en-US" dirty="0">
                <a:ea typeface="+mn-lt"/>
                <a:cs typeface="+mn-lt"/>
              </a:rPr>
              <a:t> → Full URL or system path</a:t>
            </a:r>
            <a:endParaRPr lang="en-US" dirty="0"/>
          </a:p>
          <a:p>
            <a:pPr indent="0">
              <a:buNone/>
            </a:pPr>
            <a:r>
              <a:rPr lang="en-US" dirty="0">
                <a:latin typeface="Consolas" panose="020B0609020204030204"/>
              </a:rPr>
              <a:t>&lt;</a:t>
            </a:r>
            <a:r>
              <a:rPr lang="en-US" dirty="0" err="1">
                <a:latin typeface="Consolas" panose="020B0609020204030204"/>
              </a:rPr>
              <a:t>img</a:t>
            </a:r>
            <a:r>
              <a:rPr lang="en-US" dirty="0">
                <a:latin typeface="Consolas" panose="020B0609020204030204"/>
              </a:rPr>
              <a:t> </a:t>
            </a:r>
            <a:r>
              <a:rPr lang="en-US" dirty="0" err="1">
                <a:latin typeface="Consolas" panose="020B0609020204030204"/>
              </a:rPr>
              <a:t>src</a:t>
            </a:r>
            <a:r>
              <a:rPr lang="en-US" dirty="0">
                <a:latin typeface="Consolas" panose="020B0609020204030204"/>
              </a:rPr>
              <a:t>="C:/Users/Navi/Desktop/pic.jpg"&gt;
&lt;</a:t>
            </a:r>
            <a:r>
              <a:rPr lang="en-US" dirty="0" err="1">
                <a:latin typeface="Consolas" panose="020B0609020204030204"/>
              </a:rPr>
              <a:t>img</a:t>
            </a:r>
            <a:r>
              <a:rPr lang="en-US" dirty="0">
                <a:latin typeface="Consolas" panose="020B0609020204030204"/>
              </a:rPr>
              <a:t> </a:t>
            </a:r>
            <a:r>
              <a:rPr lang="en-US" dirty="0" err="1">
                <a:latin typeface="Consolas" panose="020B0609020204030204"/>
              </a:rPr>
              <a:t>src</a:t>
            </a:r>
            <a:r>
              <a:rPr lang="en-US" dirty="0">
                <a:latin typeface="Consolas" panose="020B0609020204030204"/>
              </a:rPr>
              <a:t>="https://example.com/images/pic.jpg"&gt;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018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/>
              <a:buChar char="•"/>
            </a:pPr>
            <a:r>
              <a:rPr lang="en-US" b="1" dirty="0">
                <a:ea typeface="+mn-lt"/>
                <a:cs typeface="+mn-lt"/>
              </a:rPr>
              <a:t>Relative Path</a:t>
            </a:r>
            <a:r>
              <a:rPr lang="en-US" dirty="0">
                <a:ea typeface="+mn-lt"/>
                <a:cs typeface="+mn-lt"/>
              </a:rPr>
              <a:t> → Location relative to current file</a:t>
            </a:r>
            <a:endParaRPr lang="en-US" dirty="0"/>
          </a:p>
          <a:p>
            <a:pPr indent="0">
              <a:buNone/>
            </a:pPr>
            <a:r>
              <a:rPr lang="en-US" dirty="0">
                <a:latin typeface="Consolas" panose="020B0609020204030204"/>
              </a:rPr>
              <a:t>&lt;</a:t>
            </a:r>
            <a:r>
              <a:rPr lang="en-US" dirty="0" err="1">
                <a:latin typeface="Consolas" panose="020B0609020204030204"/>
              </a:rPr>
              <a:t>img</a:t>
            </a:r>
            <a:r>
              <a:rPr lang="en-US" dirty="0">
                <a:latin typeface="Consolas" panose="020B0609020204030204"/>
              </a:rPr>
              <a:t> </a:t>
            </a:r>
            <a:r>
              <a:rPr lang="en-US" dirty="0" err="1">
                <a:latin typeface="Consolas" panose="020B0609020204030204"/>
              </a:rPr>
              <a:t>src</a:t>
            </a:r>
            <a:r>
              <a:rPr lang="en-US" dirty="0">
                <a:latin typeface="Consolas" panose="020B0609020204030204"/>
              </a:rPr>
              <a:t>="images/pic.jpg"&gt;  &lt;!-- inside "images" folder --&gt;
&lt;</a:t>
            </a:r>
            <a:r>
              <a:rPr lang="en-US" dirty="0" err="1">
                <a:latin typeface="Consolas" panose="020B0609020204030204"/>
              </a:rPr>
              <a:t>img</a:t>
            </a:r>
            <a:r>
              <a:rPr lang="en-US" dirty="0">
                <a:latin typeface="Consolas" panose="020B0609020204030204"/>
              </a:rPr>
              <a:t> </a:t>
            </a:r>
            <a:r>
              <a:rPr lang="en-US" dirty="0" err="1">
                <a:latin typeface="Consolas" panose="020B0609020204030204"/>
              </a:rPr>
              <a:t>src</a:t>
            </a:r>
            <a:r>
              <a:rPr lang="en-US" dirty="0">
                <a:latin typeface="Consolas" panose="020B0609020204030204"/>
              </a:rPr>
              <a:t>="../pic.jpg"&gt;      &lt;!-- one folder back --&gt;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2245</Words>
  <Application>WPS Presentation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Consolas</vt:lpstr>
      <vt:lpstr>Arial</vt:lpstr>
      <vt:lpstr>Calibri Light</vt:lpstr>
      <vt:lpstr>Rockwell</vt:lpstr>
      <vt:lpstr>Microsoft YaHei</vt:lpstr>
      <vt:lpstr>Arial Unicode MS</vt:lpstr>
      <vt:lpstr>Calibri</vt:lpstr>
      <vt:lpstr>Atlas</vt:lpstr>
      <vt:lpstr>Day5  </vt:lpstr>
      <vt:lpstr>Block line vs Inline Elements</vt:lpstr>
      <vt:lpstr>Inline tags</vt:lpstr>
      <vt:lpstr>PowerPoint 演示文稿</vt:lpstr>
      <vt:lpstr>PowerPoint 演示文稿</vt:lpstr>
      <vt:lpstr>Div, Class, Id</vt:lpstr>
      <vt:lpstr>PowerPoint 演示文稿</vt:lpstr>
      <vt:lpstr>PowerPoint 演示文稿</vt:lpstr>
      <vt:lpstr>iFrame</vt:lpstr>
      <vt:lpstr>File Paths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Jeeva vaishnavi</cp:lastModifiedBy>
  <cp:revision>123</cp:revision>
  <dcterms:created xsi:type="dcterms:W3CDTF">2025-08-29T09:13:00Z</dcterms:created>
  <dcterms:modified xsi:type="dcterms:W3CDTF">2025-10-17T06:33:43Z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77BAB1C18531464D9DFB6E8092737338_12</vt:lpwstr>
  </property>
  <property fmtid="{D5CDD505-2E9C-101B-9397-08002B2CF9AE}" pid="3" name="KSOProductBuildVer">
    <vt:lpwstr>1033-12.2.0.23131</vt:lpwstr>
  </property>
</Properties>
</file>